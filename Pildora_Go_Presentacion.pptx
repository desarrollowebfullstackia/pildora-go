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(Español - 1 min):</a:t>
            </a:r>
          </a:p>
          <a:p>
            <a:r>
              <a:t>'Hola a todos. Bienvenidos a esta píldora formativa sobre Go, también conocido como Golang. Hoy vamos a descubrir por qué este lenguaje, creado por Google, se ha convertido en la columna vertebral de la nube y la infraestructura moderna. Veremos su historia, su filosofía de diseño, haremos una comparativa técnica en inglés con Python y terminaremos con una sesión de Live Coding donde veremos cómo la concurrencia nativa de Go resuelve problemas en milisegundos. ¡Comenzamos!'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(Español - 2 min):</a:t>
            </a:r>
          </a:p>
          <a:p>
            <a:r>
              <a:t>'Para entender Go, hay que entender el problema que tenía Google a mediados de los 2000. Google tenía miles de ingenieros trabajando en enormes bases de código en C++ y Java. Una compilación podía tardar 45 minutos. Además, los servidores ya no aumentaban la velocidad por hercios, sino sumando núcleos (multi-core). Ningún lenguaje de la época gestionaba bien la concurrencia masiva de servidores sin caer en una complejidad demencial. Por eso, tres leyendas vivas de la computación —Ken Thompson (creador de Unix y UTF-8), Rob Pike y Robert Griesemer— se sentaron a diseñar un lenguaje nuevo desde cero con una premisa: máxima velocidad de compilación, tipado estático seguro y concurrencia como ciudadano de primera clase.'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(Español - 2 min):</a:t>
            </a:r>
          </a:p>
          <a:p>
            <a:r>
              <a:t>'La filosofía de Go se resume en: Menos es Más. Mientras otros lenguajes añaden sintaxis en cada versión, Go se mantiene minimalista a propósito. Tiene únicamente 25 palabras reservadas. No existe el bucle while, solo for. No hay clases ni herencia tradicional, sino structs y composición. Tampoco hay excepciones mágicas: los errores son valores que se retornan explícitamente. Además, introdujeron 'gofmt', un formateador estándar que zanjó para siempre las discusiones de tabuladores y espacios. El objetivo era claro: que cualquier programador del equipo pudiera leer y mantener el código de otro sin necesidad de descifrar trucos sintácticos.'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(Español - 2 min):</a:t>
            </a:r>
          </a:p>
          <a:p>
            <a:r>
              <a:t>'¿Dónde se usa Go hoy en día? Prácticamente TODO el ecosistema de la nube moderna está construido en Go. Docker fue creado en Go. Kubernetes, el orquestador que domina la industria, es Go puro. Terraform, Prometheus, Traefik... Si trabajas con DevOps o microservicios, ya estás usando Go aunque no lo sepas. Empresas como Uber o Twitch migraron sus servicios centrales a Go porque necesitaban procesar millones de peticiones simultáneas sin que los servidores colapsaran por consumo de memoria.'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(Español - 2 min):</a:t>
            </a:r>
          </a:p>
          <a:p>
            <a:r>
              <a:t>'Técnicamente, Go destaca por tres pilares fundamentales. Primero: compila a un único binario ejecutable estático. No necesitas instalar Node, ni Python, ni el JVM de Java en el servidor. Copias el binario y funciona. Segundo: Goroutines. En lugar de hilos pesados del sistema operativo de 2 megas, Go crea hilos virtuales ultraligeros de 2 kilobytes. Puedes levantar cientos de miles simultáneamente. Y tercero: Canales. Para que las goroutines no choquen al acceder a la memoria, se pasan mensajes por canales siguiendo el modelo CSP.'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(Español - 2 min):</a:t>
            </a:r>
          </a:p>
          <a:p>
            <a:r>
              <a:t>'Ningún lenguaje es una bala de plata, y Go tiene limitaciones claras que debemos reconocer. Al no tener excepciones, el código se llena de comprobaciones 'if err != nil'. Es muy predecible y seguro, pero puede parecer repetitivo. Tampoco es el lenguaje adecuado para Data Science ni Inteligencia Artificial, donde Python tiene librerías inigualables. Y si vienes de Java o C# muy acostumbrado a jerarquías de herencia complejas, al principio echarás de menos las clases tradicionales. Pero para microservicios y sistemas de red, su simplicidad y velocidad no tienen rival.'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(ENGLISH - Continuous speech, 1.5 min):</a:t>
            </a:r>
          </a:p>
          <a:p>
            <a:r>
              <a:t>'Now, let's switch to English to compare Go directly against Python, which is one of the most beloved languages today. First, let's examine the execution model and overall performance. Python is an interpreted, dynamically typed language. This makes it wonderful for rapid prototyping, data science, and scripting. However, in production backend systems, dynamic typing means many type errors are only discovered at runtime. Furthermore, running bytecode inside the CPython virtual machine introduces significant CPU and memory overhead. In contrast, Go is statically typed and compiles straight to native machine instructions. The Go compiler acts as a strict safety net: if there is a type mismatch, your code simply will not compile. In terms of raw computational speed and response latency, Go typically outperforms pure Python by 10 to 40 times, while maintaining sub-millisecond Garbage Collection pauses.'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(ENGLISH - Continuous speech, 1.5 min):</a:t>
            </a:r>
          </a:p>
          <a:p>
            <a:r>
              <a:t>'The second major battleground is Concurrency. And this is where Go truly destroys the competition. Python has always struggled with the GIL, or Global Interpreter Lock. The GIL prevents multiple native threads from executing Python bytecode simultaneously on multiple CPU cores. While Python introduced 'asyncio' to mitigate this, it created the well-known problem of colored functions, where asynchronous code cannot easily mix with synchronous code. Go takes a completely different approach with Goroutines. A Goroutine is not a heavy operating system thread. It is a lightweight green thread managed directly by the Go runtime. While a standard OS thread in Python or Java allocates 1 to 2 megabytes of memory, a Goroutine starts with only 2 kilobytes! This means you can spawn hundreds of thousands of concurrent tasks on a modest laptop without running out of memory. Coupled with Channels, Go gives you fearless, lock-free concurrency built right into the syntax.'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(ENGLISH - Continuous speech, 1 min):</a:t>
            </a:r>
          </a:p>
          <a:p>
            <a:r>
              <a:t>'Finally, let's talk about the operational and deployment reality. Deploying Python applications in production requires managing virtual environments, package managers like pip or poetry, system-level C-bindings, and Python interpreter versions. This often results in bloated Docker images of 500 megabytes or more. With Go, deployment is practically magic. The Go compiler creates a single, self-contained, statically linked binary. You don't need Go installed on the production server. You can literally copy that single file into a completely empty Docker image called 'scratch', resulting in a production container of less than 15 megabytes with zero attack surface. To summarize: Python is fantastic for machine learning, data science, and quick scripting. But for scalable backend services, networking, and cloud infrastructure, Go is objectively superior.'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(Español - 1 min):</a:t>
            </a:r>
          </a:p>
          <a:p>
            <a:r>
              <a:t>'Volviendo al español para cerrar la teoría: hemos visto que Go no pretende ser el lenguaje más cargado de sintaxis, sino el más práctico, robusto y eficiente para la infraestructura moderna. Y para demostrar que todo esto no es solo teoría en diapositivas, pasamos ahora a la parte práctica de Live Coding. Vamos a abrir el editor y programar en directo para ver cómo transformar un proceso bloqueante en una solución concurrente en apenas un par de líneas. ¡Vamos a la terminal!'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PÍLDORA FORMATIVA (20 MIN) | FACTORÍA F5  |  ⏱️ 1:00 min</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Introducción a Go (Golang)</a:t>
            </a:r>
            <a:br/>
            <a:r>
              <a:t>Simplicidad, Rendimiento y Concurrencia</a:t>
            </a:r>
          </a:p>
        </p:txBody>
      </p:sp>
      <p:sp>
        <p:nvSpPr>
          <p:cNvPr id="6" name="Rounded Rectangle 5"/>
          <p:cNvSpPr/>
          <p:nvPr/>
        </p:nvSpPr>
        <p:spPr>
          <a:xfrm>
            <a:off x="731520" y="2286000"/>
            <a:ext cx="10728655"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10271455" cy="3657600"/>
          </a:xfrm>
          <a:prstGeom prst="rect">
            <a:avLst/>
          </a:prstGeom>
          <a:noFill/>
        </p:spPr>
        <p:txBody>
          <a:bodyPr wrap="square" lIns="0" tIns="0" rIns="0" bIns="0">
            <a:spAutoFit/>
          </a:bodyPr>
          <a:lstStyle/>
          <a:p>
            <a:pPr>
              <a:spcAft>
                <a:spcPts val="1400"/>
              </a:spcAft>
              <a:defRPr sz="1900" b="1">
                <a:solidFill>
                  <a:srgbClr val="00ADD8"/>
                </a:solidFill>
              </a:defRPr>
            </a:pPr>
            <a:r>
              <a:t>🎯 Agenda de la sesión</a:t>
            </a:r>
          </a:p>
          <a:p>
            <a:pPr>
              <a:spcAft>
                <a:spcPts val="1000"/>
              </a:spcAft>
              <a:defRPr sz="1400">
                <a:solidFill>
                  <a:srgbClr val="F3F4F6"/>
                </a:solidFill>
              </a:defRPr>
            </a:pPr>
            <a:r>
              <a:t>•  1. Fundamentos &amp; Filosofía de Go (Google, Rob Pike, Ken Thompson)</a:t>
            </a:r>
          </a:p>
          <a:p>
            <a:pPr>
              <a:spcAft>
                <a:spcPts val="1000"/>
              </a:spcAft>
              <a:defRPr sz="1400">
                <a:solidFill>
                  <a:srgbClr val="F3F4F6"/>
                </a:solidFill>
              </a:defRPr>
            </a:pPr>
            <a:r>
              <a:t>•  2. Casos reales en la industria de la nube (Docker, K8s)</a:t>
            </a:r>
          </a:p>
          <a:p>
            <a:pPr>
              <a:spcAft>
                <a:spcPts val="1000"/>
              </a:spcAft>
              <a:defRPr sz="1400">
                <a:solidFill>
                  <a:srgbClr val="F3F4F6"/>
                </a:solidFill>
              </a:defRPr>
            </a:pPr>
            <a:r>
              <a:t>•  3. Go vs Python: Speed, Concurrency &amp; Deployment [ENGLISH]</a:t>
            </a:r>
          </a:p>
          <a:p>
            <a:pPr>
              <a:spcAft>
                <a:spcPts val="1000"/>
              </a:spcAft>
              <a:defRPr sz="1400">
                <a:solidFill>
                  <a:srgbClr val="F3F4F6"/>
                </a:solidFill>
              </a:defRPr>
            </a:pPr>
            <a:r>
              <a:t>•  4. Live Coding: Concurrencia en directo con Goroutines y Canales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CONTEXTO &amp; ORIGEN | ESPAÑOL  |  ⏱️ 2:00 min</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¿Por qué Google creó Go en 2007?</a:t>
            </a:r>
          </a:p>
        </p:txBody>
      </p:sp>
      <p:sp>
        <p:nvSpPr>
          <p:cNvPr id="6" name="Rounded Rectangle 5"/>
          <p:cNvSpPr/>
          <p:nvPr/>
        </p:nvSpPr>
        <p:spPr>
          <a:xfrm>
            <a:off x="731520"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Los Creadores (Leyendas de la Informática)</a:t>
            </a:r>
          </a:p>
          <a:p>
            <a:pPr>
              <a:spcAft>
                <a:spcPts val="1000"/>
              </a:spcAft>
              <a:defRPr sz="1400">
                <a:solidFill>
                  <a:srgbClr val="F3F4F6"/>
                </a:solidFill>
              </a:defRPr>
            </a:pPr>
            <a:r>
              <a:t>•  Ken Thompson: Co-creador del sistema operativo UNIX y del lenguaje B/C.</a:t>
            </a:r>
          </a:p>
          <a:p>
            <a:pPr>
              <a:spcAft>
                <a:spcPts val="1000"/>
              </a:spcAft>
              <a:defRPr sz="1400">
                <a:solidFill>
                  <a:srgbClr val="F3F4F6"/>
                </a:solidFill>
              </a:defRPr>
            </a:pPr>
            <a:r>
              <a:t>•  Rob Pike: Co-creador del sistema Plan 9 y del formato UTF-8.</a:t>
            </a:r>
          </a:p>
          <a:p>
            <a:pPr>
              <a:spcAft>
                <a:spcPts val="1000"/>
              </a:spcAft>
              <a:defRPr sz="1400">
                <a:solidFill>
                  <a:srgbClr val="F3F4F6"/>
                </a:solidFill>
              </a:defRPr>
            </a:pPr>
            <a:r>
              <a:t>•  Robert Griesemer: Diseñador de motores de compilación V8 de Chrome y Java HotSpot.</a:t>
            </a:r>
          </a:p>
        </p:txBody>
      </p:sp>
      <p:sp>
        <p:nvSpPr>
          <p:cNvPr id="8" name="Rounded Rectangle 7"/>
          <p:cNvSpPr/>
          <p:nvPr/>
        </p:nvSpPr>
        <p:spPr>
          <a:xfrm>
            <a:off x="6272784"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4"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La Crisis en Google (El Problema)</a:t>
            </a:r>
          </a:p>
          <a:p>
            <a:pPr>
              <a:spcAft>
                <a:spcPts val="1000"/>
              </a:spcAft>
              <a:defRPr sz="1400">
                <a:solidFill>
                  <a:srgbClr val="F3F4F6"/>
                </a:solidFill>
              </a:defRPr>
            </a:pPr>
            <a:r>
              <a:t>•  Compilaciones eternas: Proyectos gigantescos en C++ tardaban hasta 45 minutos en compilar.</a:t>
            </a:r>
          </a:p>
          <a:p>
            <a:pPr>
              <a:spcAft>
                <a:spcPts val="1000"/>
              </a:spcAft>
              <a:defRPr sz="1400">
                <a:solidFill>
                  <a:srgbClr val="F3F4F6"/>
                </a:solidFill>
              </a:defRPr>
            </a:pPr>
            <a:r>
              <a:t>•  Complejidad desmedida: C++ y Java crecían con demasiada sintaxis innecesaria y jerarquías rígidas.</a:t>
            </a:r>
          </a:p>
          <a:p>
            <a:pPr>
              <a:spcAft>
                <a:spcPts val="1000"/>
              </a:spcAft>
              <a:defRPr sz="1400">
                <a:solidFill>
                  <a:srgbClr val="F3F4F6"/>
                </a:solidFill>
              </a:defRPr>
            </a:pPr>
            <a:r>
              <a:t>•  Hardware multinúcleo desaprovechado: Concurrencia en hilos de SO era costosa y propensa a deadlocks.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FILOSOFÍA DE DISEÑO | ESPAÑOL  |  ⏱️ 2:00 min</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La Filosofía de Go: Menos es Más</a:t>
            </a:r>
          </a:p>
        </p:txBody>
      </p:sp>
      <p:sp>
        <p:nvSpPr>
          <p:cNvPr id="6" name="Rounded Rectangle 5"/>
          <p:cNvSpPr/>
          <p:nvPr/>
        </p:nvSpPr>
        <p:spPr>
          <a:xfrm>
            <a:off x="731520"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Simplicidad Radical</a:t>
            </a:r>
          </a:p>
          <a:p>
            <a:pPr>
              <a:spcAft>
                <a:spcPts val="1000"/>
              </a:spcAft>
              <a:defRPr sz="1400">
                <a:solidFill>
                  <a:srgbClr val="F3F4F6"/>
                </a:solidFill>
              </a:defRPr>
            </a:pPr>
            <a:r>
              <a:t>•  Solo 25 palabras reservadas (Java tiene más de 50, C++ más de 80).</a:t>
            </a:r>
          </a:p>
          <a:p>
            <a:pPr>
              <a:spcAft>
                <a:spcPts val="1000"/>
              </a:spcAft>
              <a:defRPr sz="1400">
                <a:solidFill>
                  <a:srgbClr val="F3F4F6"/>
                </a:solidFill>
              </a:defRPr>
            </a:pPr>
            <a:r>
              <a:t>•  Un solo bucle: solo existe el bucle 'for' (elimina 'while' y 'do-while').</a:t>
            </a:r>
          </a:p>
          <a:p>
            <a:pPr>
              <a:spcAft>
                <a:spcPts val="1000"/>
              </a:spcAft>
              <a:defRPr sz="1400">
                <a:solidFill>
                  <a:srgbClr val="F3F4F6"/>
                </a:solidFill>
              </a:defRPr>
            </a:pPr>
            <a:r>
              <a:t>•  Sin herencia de clases: Código basado en Composición e Interfaces implícitas.</a:t>
            </a:r>
          </a:p>
          <a:p>
            <a:pPr>
              <a:spcAft>
                <a:spcPts val="1000"/>
              </a:spcAft>
              <a:defRPr sz="1400">
                <a:solidFill>
                  <a:srgbClr val="F3F4F6"/>
                </a:solidFill>
              </a:defRPr>
            </a:pPr>
            <a:r>
              <a:t>•  No hay excepciones: Manejo explícito de errores con valores múltiples (if err != nil).</a:t>
            </a:r>
          </a:p>
        </p:txBody>
      </p:sp>
      <p:sp>
        <p:nvSpPr>
          <p:cNvPr id="8" name="Rounded Rectangle 7"/>
          <p:cNvSpPr/>
          <p:nvPr/>
        </p:nvSpPr>
        <p:spPr>
          <a:xfrm>
            <a:off x="6272784"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4"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La Cultura del Estándar</a:t>
            </a:r>
          </a:p>
          <a:p>
            <a:pPr>
              <a:spcAft>
                <a:spcPts val="1000"/>
              </a:spcAft>
              <a:defRPr sz="1400">
                <a:solidFill>
                  <a:srgbClr val="F3F4F6"/>
                </a:solidFill>
              </a:defRPr>
            </a:pPr>
            <a:r>
              <a:t>•  gofmt: Herramienta oficial que formatea el código por ti. Cero debates de estilo en el equipo.</a:t>
            </a:r>
          </a:p>
          <a:p>
            <a:pPr>
              <a:spcAft>
                <a:spcPts val="1000"/>
              </a:spcAft>
              <a:defRPr sz="1400">
                <a:solidFill>
                  <a:srgbClr val="F3F4F6"/>
                </a:solidFill>
              </a:defRPr>
            </a:pPr>
            <a:r>
              <a:t>•  Legibilidad ante todo: Diseñado para que un programador júnior lea código sénior sin fricción.</a:t>
            </a:r>
          </a:p>
          <a:p>
            <a:pPr>
              <a:spcAft>
                <a:spcPts val="1000"/>
              </a:spcAft>
              <a:defRPr sz="1400">
                <a:solidFill>
                  <a:srgbClr val="F3F4F6"/>
                </a:solidFill>
              </a:defRPr>
            </a:pPr>
            <a:r>
              <a:t>•  Sin magia oscura: Sin sobrecarga de operadores, sin metaprogramación compleja.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ECOSISTEMA | ESPAÑOL  |  ⏱️ 2:00 min</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Casos de Uso: La Columna Vertebral de Cloud Native</a:t>
            </a:r>
          </a:p>
        </p:txBody>
      </p:sp>
      <p:sp>
        <p:nvSpPr>
          <p:cNvPr id="6" name="Rounded Rectangle 5"/>
          <p:cNvSpPr/>
          <p:nvPr/>
        </p:nvSpPr>
        <p:spPr>
          <a:xfrm>
            <a:off x="731520"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El Rey de la Infraestructura Cloud</a:t>
            </a:r>
          </a:p>
          <a:p>
            <a:pPr>
              <a:spcAft>
                <a:spcPts val="1000"/>
              </a:spcAft>
              <a:defRPr sz="1400">
                <a:solidFill>
                  <a:srgbClr val="F3F4F6"/>
                </a:solidFill>
              </a:defRPr>
            </a:pPr>
            <a:r>
              <a:t>•  Docker &amp; Kubernetes: El estándar mundial de contenedores y orquestación está escrito en Go.</a:t>
            </a:r>
          </a:p>
          <a:p>
            <a:pPr>
              <a:spcAft>
                <a:spcPts val="1000"/>
              </a:spcAft>
              <a:defRPr sz="1400">
                <a:solidFill>
                  <a:srgbClr val="F3F4F6"/>
                </a:solidFill>
              </a:defRPr>
            </a:pPr>
            <a:r>
              <a:t>•  HashiCorp: Terraform, Consul, Nomad y Vault están desarrollados 100% en Go.</a:t>
            </a:r>
          </a:p>
          <a:p>
            <a:pPr>
              <a:spcAft>
                <a:spcPts val="1000"/>
              </a:spcAft>
              <a:defRPr sz="1400">
                <a:solidFill>
                  <a:srgbClr val="F3F4F6"/>
                </a:solidFill>
              </a:defRPr>
            </a:pPr>
            <a:r>
              <a:t>•  Monitoreo &amp; Redes: Prometheus, Grafana Backend, Traefik, Caddy Server.</a:t>
            </a:r>
          </a:p>
        </p:txBody>
      </p:sp>
      <p:sp>
        <p:nvSpPr>
          <p:cNvPr id="8" name="Rounded Rectangle 7"/>
          <p:cNvSpPr/>
          <p:nvPr/>
        </p:nvSpPr>
        <p:spPr>
          <a:xfrm>
            <a:off x="6272784"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4"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Gigantes que dependen de Go</a:t>
            </a:r>
          </a:p>
          <a:p>
            <a:pPr>
              <a:spcAft>
                <a:spcPts val="1000"/>
              </a:spcAft>
              <a:defRPr sz="1400">
                <a:solidFill>
                  <a:srgbClr val="F3F4F6"/>
                </a:solidFill>
              </a:defRPr>
            </a:pPr>
            <a:r>
              <a:t>•  Uber: Migró sus servicios de geolocalización a Go reduciendo el uso de CPU drásticamente.</a:t>
            </a:r>
          </a:p>
          <a:p>
            <a:pPr>
              <a:spcAft>
                <a:spcPts val="1000"/>
              </a:spcAft>
              <a:defRPr sz="1400">
                <a:solidFill>
                  <a:srgbClr val="F3F4F6"/>
                </a:solidFill>
              </a:defRPr>
            </a:pPr>
            <a:r>
              <a:t>•  Twitch: Gestiona millones de streams de chat concurrentes gracias a las Goroutines.</a:t>
            </a:r>
          </a:p>
          <a:p>
            <a:pPr>
              <a:spcAft>
                <a:spcPts val="1000"/>
              </a:spcAft>
              <a:defRPr sz="1400">
                <a:solidFill>
                  <a:srgbClr val="F3F4F6"/>
                </a:solidFill>
              </a:defRPr>
            </a:pPr>
            <a:r>
              <a:t>•  Mercado Libre / Netflix / Cloudflare: Microservicios de altísimo rendimiento y baja latencia.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SINTAXIS &amp; CARACTERÍSTICAS | ESPAÑOL  |  ⏱️ 2:00 min</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Los 3 Pilares Técnicos de Go</a:t>
            </a:r>
          </a:p>
        </p:txBody>
      </p:sp>
      <p:sp>
        <p:nvSpPr>
          <p:cNvPr id="6" name="Rounded Rectangle 5"/>
          <p:cNvSpPr/>
          <p:nvPr/>
        </p:nvSpPr>
        <p:spPr>
          <a:xfrm>
            <a:off x="731520" y="2286000"/>
            <a:ext cx="3364992"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2907792" cy="3657600"/>
          </a:xfrm>
          <a:prstGeom prst="rect">
            <a:avLst/>
          </a:prstGeom>
          <a:noFill/>
        </p:spPr>
        <p:txBody>
          <a:bodyPr wrap="square" lIns="0" tIns="0" rIns="0" bIns="0">
            <a:spAutoFit/>
          </a:bodyPr>
          <a:lstStyle/>
          <a:p>
            <a:pPr>
              <a:spcAft>
                <a:spcPts val="1400"/>
              </a:spcAft>
              <a:defRPr sz="1900" b="1">
                <a:solidFill>
                  <a:srgbClr val="00ADD8"/>
                </a:solidFill>
              </a:defRPr>
            </a:pPr>
            <a:r>
              <a:t>1. Binario Único Estático</a:t>
            </a:r>
          </a:p>
          <a:p>
            <a:pPr>
              <a:spcAft>
                <a:spcPts val="1000"/>
              </a:spcAft>
              <a:defRPr sz="1400">
                <a:solidFill>
                  <a:srgbClr val="F3F4F6"/>
                </a:solidFill>
              </a:defRPr>
            </a:pPr>
            <a:r>
              <a:t>•  Compila directamente a código máquina nativo (x86, ARM).</a:t>
            </a:r>
          </a:p>
          <a:p>
            <a:pPr>
              <a:spcAft>
                <a:spcPts val="1000"/>
              </a:spcAft>
              <a:defRPr sz="1400">
                <a:solidFill>
                  <a:srgbClr val="F3F4F6"/>
                </a:solidFill>
              </a:defRPr>
            </a:pPr>
            <a:r>
              <a:t>•  Sin dependencias externas ni runtime que instalar en producción.</a:t>
            </a:r>
          </a:p>
          <a:p>
            <a:pPr>
              <a:spcAft>
                <a:spcPts val="1000"/>
              </a:spcAft>
              <a:defRPr sz="1400">
                <a:solidFill>
                  <a:srgbClr val="F3F4F6"/>
                </a:solidFill>
              </a:defRPr>
            </a:pPr>
            <a:r>
              <a:t>•  Despliegues inmediatos copiando un solo archivo ejecutable.</a:t>
            </a:r>
          </a:p>
        </p:txBody>
      </p:sp>
      <p:sp>
        <p:nvSpPr>
          <p:cNvPr id="8" name="Rounded Rectangle 7"/>
          <p:cNvSpPr/>
          <p:nvPr/>
        </p:nvSpPr>
        <p:spPr>
          <a:xfrm>
            <a:off x="4407408" y="2286000"/>
            <a:ext cx="3364992"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8" y="2514600"/>
            <a:ext cx="2907792" cy="3657600"/>
          </a:xfrm>
          <a:prstGeom prst="rect">
            <a:avLst/>
          </a:prstGeom>
          <a:noFill/>
        </p:spPr>
        <p:txBody>
          <a:bodyPr wrap="square" lIns="0" tIns="0" rIns="0" bIns="0">
            <a:spAutoFit/>
          </a:bodyPr>
          <a:lstStyle/>
          <a:p>
            <a:pPr>
              <a:spcAft>
                <a:spcPts val="1400"/>
              </a:spcAft>
              <a:defRPr sz="1900" b="1">
                <a:solidFill>
                  <a:srgbClr val="00ADD8"/>
                </a:solidFill>
              </a:defRPr>
            </a:pPr>
            <a:r>
              <a:t>2. Concurrencia con Goroutines</a:t>
            </a:r>
          </a:p>
          <a:p>
            <a:pPr>
              <a:spcAft>
                <a:spcPts val="1000"/>
              </a:spcAft>
              <a:defRPr sz="1400">
                <a:solidFill>
                  <a:srgbClr val="F3F4F6"/>
                </a:solidFill>
              </a:defRPr>
            </a:pPr>
            <a:r>
              <a:t>•  Hilos ligeros gestionados por el runtime de Go (no por el kernel del SO).</a:t>
            </a:r>
          </a:p>
          <a:p>
            <a:pPr>
              <a:spcAft>
                <a:spcPts val="1000"/>
              </a:spcAft>
              <a:defRPr sz="1400">
                <a:solidFill>
                  <a:srgbClr val="F3F4F6"/>
                </a:solidFill>
              </a:defRPr>
            </a:pPr>
            <a:r>
              <a:t>•  Consumo de memoria ínfimo: ~2 KB de pila inicial frente a 1-2 MB por hilo de SO.</a:t>
            </a:r>
          </a:p>
          <a:p>
            <a:pPr>
              <a:spcAft>
                <a:spcPts val="1000"/>
              </a:spcAft>
              <a:defRPr sz="1400">
                <a:solidFill>
                  <a:srgbClr val="F3F4F6"/>
                </a:solidFill>
              </a:defRPr>
            </a:pPr>
            <a:r>
              <a:t>•  Puedes levantar 100.000 goroutines en un portátil común sin despeinarte.</a:t>
            </a:r>
          </a:p>
        </p:txBody>
      </p:sp>
      <p:sp>
        <p:nvSpPr>
          <p:cNvPr id="10" name="Rounded Rectangle 9"/>
          <p:cNvSpPr/>
          <p:nvPr/>
        </p:nvSpPr>
        <p:spPr>
          <a:xfrm>
            <a:off x="8083296" y="2286000"/>
            <a:ext cx="3364992"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1896" y="2514600"/>
            <a:ext cx="2907792" cy="3657600"/>
          </a:xfrm>
          <a:prstGeom prst="rect">
            <a:avLst/>
          </a:prstGeom>
          <a:noFill/>
        </p:spPr>
        <p:txBody>
          <a:bodyPr wrap="square" lIns="0" tIns="0" rIns="0" bIns="0">
            <a:spAutoFit/>
          </a:bodyPr>
          <a:lstStyle/>
          <a:p>
            <a:pPr>
              <a:spcAft>
                <a:spcPts val="1400"/>
              </a:spcAft>
              <a:defRPr sz="1900" b="1">
                <a:solidFill>
                  <a:srgbClr val="00ADD8"/>
                </a:solidFill>
              </a:defRPr>
            </a:pPr>
            <a:r>
              <a:t>3. Canales (Channels) &amp; CSP</a:t>
            </a:r>
          </a:p>
          <a:p>
            <a:pPr>
              <a:spcAft>
                <a:spcPts val="1000"/>
              </a:spcAft>
              <a:defRPr sz="1400">
                <a:solidFill>
                  <a:srgbClr val="F3F4F6"/>
                </a:solidFill>
              </a:defRPr>
            </a:pPr>
            <a:r>
              <a:t>•  Mecanismo seguro de comunicación entre goroutines.</a:t>
            </a:r>
          </a:p>
          <a:p>
            <a:pPr>
              <a:spcAft>
                <a:spcPts val="1000"/>
              </a:spcAft>
              <a:defRPr sz="1400">
                <a:solidFill>
                  <a:srgbClr val="F3F4F6"/>
                </a:solidFill>
              </a:defRPr>
            </a:pPr>
            <a:r>
              <a:t>•  Filosofía CSP: 'No te comuniques compartiendo memoria; comparte memoria comunicándote'.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LIMITACIONES &amp; CONSIDERACIONES | ESPAÑOL  |  ⏱️ 2:00 min</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¿Cuándo NO usar Go? Trade-offs reales</a:t>
            </a:r>
          </a:p>
        </p:txBody>
      </p:sp>
      <p:sp>
        <p:nvSpPr>
          <p:cNvPr id="6" name="Rounded Rectangle 5"/>
          <p:cNvSpPr/>
          <p:nvPr/>
        </p:nvSpPr>
        <p:spPr>
          <a:xfrm>
            <a:off x="731520"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Limitaciones a tener en cuenta</a:t>
            </a:r>
          </a:p>
          <a:p>
            <a:pPr>
              <a:spcAft>
                <a:spcPts val="1000"/>
              </a:spcAft>
              <a:defRPr sz="1400">
                <a:solidFill>
                  <a:srgbClr val="F3F4F6"/>
                </a:solidFill>
              </a:defRPr>
            </a:pPr>
            <a:r>
              <a:t>•  Verbosidad en errores: El clásico 'if err != nil' se repite con frecuencia (aunque aporta predictibilidad).</a:t>
            </a:r>
          </a:p>
          <a:p>
            <a:pPr>
              <a:spcAft>
                <a:spcPts val="1000"/>
              </a:spcAft>
              <a:defRPr sz="1400">
                <a:solidFill>
                  <a:srgbClr val="F3F4F6"/>
                </a:solidFill>
              </a:defRPr>
            </a:pPr>
            <a:r>
              <a:t>•  Sin herencia clásica: Si tu arquitectura exige POO con polimorfismo clásico de clases padre/hijo, Go te obligará a usar composición.</a:t>
            </a:r>
          </a:p>
          <a:p>
            <a:pPr>
              <a:spcAft>
                <a:spcPts val="1000"/>
              </a:spcAft>
              <a:defRPr sz="1400">
                <a:solidFill>
                  <a:srgbClr val="F3F4F6"/>
                </a:solidFill>
              </a:defRPr>
            </a:pPr>
            <a:r>
              <a:t>•  Ecosistema en IA y Data Science: Python sigue siendo el rey indiscutible (NumPy, PyTorch, Pandas).</a:t>
            </a:r>
          </a:p>
        </p:txBody>
      </p:sp>
      <p:sp>
        <p:nvSpPr>
          <p:cNvPr id="8" name="Rounded Rectangle 7"/>
          <p:cNvSpPr/>
          <p:nvPr/>
        </p:nvSpPr>
        <p:spPr>
          <a:xfrm>
            <a:off x="6272784"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4"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Cuándo es la elección perfecta</a:t>
            </a:r>
          </a:p>
          <a:p>
            <a:pPr>
              <a:spcAft>
                <a:spcPts val="1000"/>
              </a:spcAft>
              <a:defRPr sz="1400">
                <a:solidFill>
                  <a:srgbClr val="F3F4F6"/>
                </a:solidFill>
              </a:defRPr>
            </a:pPr>
            <a:r>
              <a:t>•  Microservicios y APIs backend de alta concurrencia.</a:t>
            </a:r>
          </a:p>
          <a:p>
            <a:pPr>
              <a:spcAft>
                <a:spcPts val="1000"/>
              </a:spcAft>
              <a:defRPr sz="1400">
                <a:solidFill>
                  <a:srgbClr val="F3F4F6"/>
                </a:solidFill>
              </a:defRPr>
            </a:pPr>
            <a:r>
              <a:t>•  Herramientas de línea de comandos (CLI) rápidas y portables.</a:t>
            </a:r>
          </a:p>
          <a:p>
            <a:pPr>
              <a:spcAft>
                <a:spcPts val="1000"/>
              </a:spcAft>
              <a:defRPr sz="1400">
                <a:solidFill>
                  <a:srgbClr val="F3F4F6"/>
                </a:solidFill>
              </a:defRPr>
            </a:pPr>
            <a:r>
              <a:t>•  Sistemas distribuidos, networking y plataformas Cloud Native.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ENGLISH SECTION (PART 1/3) | COMPARISON  |  ⏱️ 1:30 min [ENGLISH]</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Go vs Python: Execution Model &amp; Performance</a:t>
            </a:r>
          </a:p>
        </p:txBody>
      </p:sp>
      <p:sp>
        <p:nvSpPr>
          <p:cNvPr id="6" name="Rounded Rectangle 5"/>
          <p:cNvSpPr/>
          <p:nvPr/>
        </p:nvSpPr>
        <p:spPr>
          <a:xfrm>
            <a:off x="731520"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Python (Dynamic &amp; Interpreted)</a:t>
            </a:r>
          </a:p>
          <a:p>
            <a:pPr>
              <a:spcAft>
                <a:spcPts val="1000"/>
              </a:spcAft>
              <a:defRPr sz="1400">
                <a:solidFill>
                  <a:srgbClr val="F3F4F6"/>
                </a:solidFill>
              </a:defRPr>
            </a:pPr>
            <a:r>
              <a:t>•  Execution: Interpreted bytecode through CPython VM.</a:t>
            </a:r>
          </a:p>
          <a:p>
            <a:pPr>
              <a:spcAft>
                <a:spcPts val="1000"/>
              </a:spcAft>
              <a:defRPr sz="1400">
                <a:solidFill>
                  <a:srgbClr val="F3F4F6"/>
                </a:solidFill>
              </a:defRPr>
            </a:pPr>
            <a:r>
              <a:t>•  Typing: Dynamic typing. Type bugs are often discovered at runtime in production.</a:t>
            </a:r>
          </a:p>
          <a:p>
            <a:pPr>
              <a:spcAft>
                <a:spcPts val="1000"/>
              </a:spcAft>
              <a:defRPr sz="1400">
                <a:solidFill>
                  <a:srgbClr val="F3F4F6"/>
                </a:solidFill>
              </a:defRPr>
            </a:pPr>
            <a:r>
              <a:t>•  Speed: High CPU overhead and interpretation cost. Often requires C-extensions (NumPy, CTypes) for raw speed.</a:t>
            </a:r>
          </a:p>
        </p:txBody>
      </p:sp>
      <p:sp>
        <p:nvSpPr>
          <p:cNvPr id="8" name="Rounded Rectangle 7"/>
          <p:cNvSpPr/>
          <p:nvPr/>
        </p:nvSpPr>
        <p:spPr>
          <a:xfrm>
            <a:off x="6272784"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4"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Go (Static &amp; Compiled)</a:t>
            </a:r>
          </a:p>
          <a:p>
            <a:pPr>
              <a:spcAft>
                <a:spcPts val="1000"/>
              </a:spcAft>
              <a:defRPr sz="1400">
                <a:solidFill>
                  <a:srgbClr val="F3F4F6"/>
                </a:solidFill>
              </a:defRPr>
            </a:pPr>
            <a:r>
              <a:t>•  Execution: Compiles directly into native machine code (bare metal).</a:t>
            </a:r>
          </a:p>
          <a:p>
            <a:pPr>
              <a:spcAft>
                <a:spcPts val="1000"/>
              </a:spcAft>
              <a:defRPr sz="1400">
                <a:solidFill>
                  <a:srgbClr val="F3F4F6"/>
                </a:solidFill>
              </a:defRPr>
            </a:pPr>
            <a:r>
              <a:t>•  Typing: Strict compile-time static typing with type inference (:=). Catches bugs before deployment.</a:t>
            </a:r>
          </a:p>
          <a:p>
            <a:pPr>
              <a:spcAft>
                <a:spcPts val="1000"/>
              </a:spcAft>
              <a:defRPr sz="1400">
                <a:solidFill>
                  <a:srgbClr val="F3F4F6"/>
                </a:solidFill>
              </a:defRPr>
            </a:pPr>
            <a:r>
              <a:t>•  Speed: 10x to 40x faster raw execution with sub-millisecond Garbage Collection pauses.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ENGLISH SECTION (PART 2/3) | COMPARISON  |  ⏱️ 1:30 min [ENGLISH]</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Go vs Python: Concurrency &amp; The Threading Battle</a:t>
            </a:r>
          </a:p>
        </p:txBody>
      </p:sp>
      <p:sp>
        <p:nvSpPr>
          <p:cNvPr id="6" name="Rounded Rectangle 5"/>
          <p:cNvSpPr/>
          <p:nvPr/>
        </p:nvSpPr>
        <p:spPr>
          <a:xfrm>
            <a:off x="731520"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Python's Concurrency Bottlenecks</a:t>
            </a:r>
          </a:p>
          <a:p>
            <a:pPr>
              <a:spcAft>
                <a:spcPts val="1000"/>
              </a:spcAft>
              <a:defRPr sz="1400">
                <a:solidFill>
                  <a:srgbClr val="F3F4F6"/>
                </a:solidFill>
              </a:defRPr>
            </a:pPr>
            <a:r>
              <a:t>•  The GIL (Global Interpreter Lock): Prevents true multi-core parallel execution in standard threads.</a:t>
            </a:r>
          </a:p>
          <a:p>
            <a:pPr>
              <a:spcAft>
                <a:spcPts val="1000"/>
              </a:spcAft>
              <a:defRPr sz="1400">
                <a:solidFill>
                  <a:srgbClr val="F3F4F6"/>
                </a:solidFill>
              </a:defRPr>
            </a:pPr>
            <a:r>
              <a:t>•  Asyncio Complexity: Introduces 'colored functions' (async/await viral contagion and event loop management).</a:t>
            </a:r>
          </a:p>
          <a:p>
            <a:pPr>
              <a:spcAft>
                <a:spcPts val="1000"/>
              </a:spcAft>
              <a:defRPr sz="1400">
                <a:solidFill>
                  <a:srgbClr val="F3F4F6"/>
                </a:solidFill>
              </a:defRPr>
            </a:pPr>
            <a:r>
              <a:t>•  High Memory Overhead: Standard OS threads consume 1 to 2 Megabytes each.</a:t>
            </a:r>
          </a:p>
        </p:txBody>
      </p:sp>
      <p:sp>
        <p:nvSpPr>
          <p:cNvPr id="8" name="Rounded Rectangle 7"/>
          <p:cNvSpPr/>
          <p:nvPr/>
        </p:nvSpPr>
        <p:spPr>
          <a:xfrm>
            <a:off x="6272784"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4"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Go's Goroutines &amp; Channel Supremacy</a:t>
            </a:r>
          </a:p>
          <a:p>
            <a:pPr>
              <a:spcAft>
                <a:spcPts val="1000"/>
              </a:spcAft>
              <a:defRPr sz="1400">
                <a:solidFill>
                  <a:srgbClr val="F3F4F6"/>
                </a:solidFill>
              </a:defRPr>
            </a:pPr>
            <a:r>
              <a:t>•  True Multi-Core Parallelism: The Go runtime multiplexes goroutines over all available CPU cores automatically.</a:t>
            </a:r>
          </a:p>
          <a:p>
            <a:pPr>
              <a:spcAft>
                <a:spcPts val="1000"/>
              </a:spcAft>
              <a:defRPr sz="1400">
                <a:solidFill>
                  <a:srgbClr val="F3F4F6"/>
                </a:solidFill>
              </a:defRPr>
            </a:pPr>
            <a:r>
              <a:t>•  Featherweight Footprint: Initial stack size is only ~2 Kilobytes! You can run 100,000 goroutines concurrently.</a:t>
            </a:r>
          </a:p>
          <a:p>
            <a:pPr>
              <a:spcAft>
                <a:spcPts val="1000"/>
              </a:spcAft>
              <a:defRPr sz="1400">
                <a:solidFill>
                  <a:srgbClr val="F3F4F6"/>
                </a:solidFill>
              </a:defRPr>
            </a:pPr>
            <a:r>
              <a:t>•  CSP Channels: Built-in typed channels allow safe communication without complex mutex locks or race conditions.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ENGLISH SECTION (PART 3/3) | COMPARISON  |  ⏱️ 1:00 min [ENGLISH]</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Go vs Python: Deployment &amp; Cloud Native Operations</a:t>
            </a:r>
          </a:p>
        </p:txBody>
      </p:sp>
      <p:sp>
        <p:nvSpPr>
          <p:cNvPr id="6" name="Rounded Rectangle 5"/>
          <p:cNvSpPr/>
          <p:nvPr/>
        </p:nvSpPr>
        <p:spPr>
          <a:xfrm>
            <a:off x="731520"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Python in DevOps &amp; Containers</a:t>
            </a:r>
          </a:p>
          <a:p>
            <a:pPr>
              <a:spcAft>
                <a:spcPts val="1000"/>
              </a:spcAft>
              <a:defRPr sz="1400">
                <a:solidFill>
                  <a:srgbClr val="F3F4F6"/>
                </a:solidFill>
              </a:defRPr>
            </a:pPr>
            <a:r>
              <a:t>•  Complex dependency trees: requires pip, poetry, or conda environments.</a:t>
            </a:r>
          </a:p>
          <a:p>
            <a:pPr>
              <a:spcAft>
                <a:spcPts val="1000"/>
              </a:spcAft>
              <a:defRPr sz="1400">
                <a:solidFill>
                  <a:srgbClr val="F3F4F6"/>
                </a:solidFill>
              </a:defRPr>
            </a:pPr>
            <a:r>
              <a:t>•  Environment drift: 'It works on my machine, but failed in production'.</a:t>
            </a:r>
          </a:p>
          <a:p>
            <a:pPr>
              <a:spcAft>
                <a:spcPts val="1000"/>
              </a:spcAft>
              <a:defRPr sz="1400">
                <a:solidFill>
                  <a:srgbClr val="F3F4F6"/>
                </a:solidFill>
              </a:defRPr>
            </a:pPr>
            <a:r>
              <a:t>•  Bloated Docker images: Base Python images often exceed 200MB to 1GB.</a:t>
            </a:r>
          </a:p>
        </p:txBody>
      </p:sp>
      <p:sp>
        <p:nvSpPr>
          <p:cNvPr id="8" name="Rounded Rectangle 7"/>
          <p:cNvSpPr/>
          <p:nvPr/>
        </p:nvSpPr>
        <p:spPr>
          <a:xfrm>
            <a:off x="6272784"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4"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Go in DevOps &amp; Containers</a:t>
            </a:r>
          </a:p>
          <a:p>
            <a:pPr>
              <a:spcAft>
                <a:spcPts val="1000"/>
              </a:spcAft>
              <a:defRPr sz="1400">
                <a:solidFill>
                  <a:srgbClr val="F3F4F6"/>
                </a:solidFill>
              </a:defRPr>
            </a:pPr>
            <a:r>
              <a:t>•  Single Standalone Binary: Everything, including the runtime, is statically packaged into one executable file.</a:t>
            </a:r>
          </a:p>
          <a:p>
            <a:pPr>
              <a:spcAft>
                <a:spcPts val="1000"/>
              </a:spcAft>
              <a:defRPr sz="1400">
                <a:solidFill>
                  <a:srgbClr val="F3F4F6"/>
                </a:solidFill>
              </a:defRPr>
            </a:pPr>
            <a:r>
              <a:t>•  Micro Docker Images: Can be deployed inside a 'FROM scratch' container weighing under 15MB!</a:t>
            </a:r>
          </a:p>
          <a:p>
            <a:pPr>
              <a:spcAft>
                <a:spcPts val="1000"/>
              </a:spcAft>
              <a:defRPr sz="1400">
                <a:solidFill>
                  <a:srgbClr val="F3F4F6"/>
                </a:solidFill>
              </a:defRPr>
            </a:pPr>
            <a:r>
              <a:t>•  Instant Boot Time: Cold start in single-digit milliseconds, ideal for Kubernetes and Serverless.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0ADD8"/>
          </a:solidFill>
          <a:ln>
            <a:solidFill>
              <a:srgbClr val="00A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457200"/>
          </a:xfrm>
          <a:prstGeom prst="rect">
            <a:avLst/>
          </a:prstGeom>
          <a:noFill/>
        </p:spPr>
        <p:txBody>
          <a:bodyPr wrap="square" lIns="0" tIns="0" rIns="0" bIns="0">
            <a:spAutoFit/>
          </a:bodyPr>
          <a:lstStyle/>
          <a:p>
            <a:pPr>
              <a:defRPr sz="1300" b="1">
                <a:solidFill>
                  <a:srgbClr val="00ADD8"/>
                </a:solidFill>
              </a:defRPr>
            </a:pPr>
            <a:r>
              <a:t>TRANSICIÓN A PRÁCTICA | ESPAÑOL  |  ⏱️ 1:00 min</a:t>
            </a:r>
          </a:p>
        </p:txBody>
      </p:sp>
      <p:sp>
        <p:nvSpPr>
          <p:cNvPr id="5" name="TextBox 4"/>
          <p:cNvSpPr txBox="1"/>
          <p:nvPr/>
        </p:nvSpPr>
        <p:spPr>
          <a:xfrm>
            <a:off x="731520" y="1005840"/>
            <a:ext cx="10728655" cy="1188720"/>
          </a:xfrm>
          <a:prstGeom prst="rect">
            <a:avLst/>
          </a:prstGeom>
          <a:noFill/>
        </p:spPr>
        <p:txBody>
          <a:bodyPr wrap="square" lIns="0" tIns="0" rIns="0" bIns="0">
            <a:spAutoFit/>
          </a:bodyPr>
          <a:lstStyle/>
          <a:p>
            <a:pPr>
              <a:defRPr sz="2800" b="1">
                <a:solidFill>
                  <a:srgbClr val="F3F4F6"/>
                </a:solidFill>
              </a:defRPr>
            </a:pPr>
            <a:r>
              <a:t>Resumen Teórico &amp; Paso al Live Coding</a:t>
            </a:r>
          </a:p>
        </p:txBody>
      </p:sp>
      <p:sp>
        <p:nvSpPr>
          <p:cNvPr id="6" name="Rounded Rectangle 5"/>
          <p:cNvSpPr/>
          <p:nvPr/>
        </p:nvSpPr>
        <p:spPr>
          <a:xfrm>
            <a:off x="731520"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Lo que hemos aprendido</a:t>
            </a:r>
          </a:p>
          <a:p>
            <a:pPr>
              <a:spcAft>
                <a:spcPts val="1000"/>
              </a:spcAft>
              <a:defRPr sz="1400">
                <a:solidFill>
                  <a:srgbClr val="F3F4F6"/>
                </a:solidFill>
              </a:defRPr>
            </a:pPr>
            <a:r>
              <a:t>•  Go ofrece velocidad de C, facilidad de lectura de Python y concurrencia nativa inigualable.</a:t>
            </a:r>
          </a:p>
          <a:p>
            <a:pPr>
              <a:spcAft>
                <a:spcPts val="1000"/>
              </a:spcAft>
              <a:defRPr sz="1400">
                <a:solidFill>
                  <a:srgbClr val="F3F4F6"/>
                </a:solidFill>
              </a:defRPr>
            </a:pPr>
            <a:r>
              <a:t>•  Su modelo de binario único revoluciona el despliegue en la nube y DevOps.</a:t>
            </a:r>
          </a:p>
          <a:p>
            <a:pPr>
              <a:spcAft>
                <a:spcPts val="1000"/>
              </a:spcAft>
              <a:defRPr sz="1400">
                <a:solidFill>
                  <a:srgbClr val="F3F4F6"/>
                </a:solidFill>
              </a:defRPr>
            </a:pPr>
            <a:r>
              <a:t>•  Menos sintaxis significa menos errores y mayor mantenibilidad en grandes equipos.</a:t>
            </a:r>
          </a:p>
        </p:txBody>
      </p:sp>
      <p:sp>
        <p:nvSpPr>
          <p:cNvPr id="8" name="Rounded Rectangle 7"/>
          <p:cNvSpPr/>
          <p:nvPr/>
        </p:nvSpPr>
        <p:spPr>
          <a:xfrm>
            <a:off x="6272784" y="2286000"/>
            <a:ext cx="5175504" cy="4114800"/>
          </a:xfrm>
          <a:prstGeom prst="roundRect">
            <a:avLst/>
          </a:prstGeom>
          <a:solidFill>
            <a:srgbClr val="1F2937"/>
          </a:solidFill>
          <a:ln w="19050">
            <a:solidFill>
              <a:srgbClr val="007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4" y="2514600"/>
            <a:ext cx="4718304" cy="3657600"/>
          </a:xfrm>
          <a:prstGeom prst="rect">
            <a:avLst/>
          </a:prstGeom>
          <a:noFill/>
        </p:spPr>
        <p:txBody>
          <a:bodyPr wrap="square" lIns="0" tIns="0" rIns="0" bIns="0">
            <a:spAutoFit/>
          </a:bodyPr>
          <a:lstStyle/>
          <a:p>
            <a:pPr>
              <a:spcAft>
                <a:spcPts val="1400"/>
              </a:spcAft>
              <a:defRPr sz="1900" b="1">
                <a:solidFill>
                  <a:srgbClr val="00ADD8"/>
                </a:solidFill>
              </a:defRPr>
            </a:pPr>
            <a:r>
              <a:t>💻 En el Live Coding veremos:</a:t>
            </a:r>
          </a:p>
          <a:p>
            <a:pPr>
              <a:spcAft>
                <a:spcPts val="1000"/>
              </a:spcAft>
              <a:defRPr sz="1400">
                <a:solidFill>
                  <a:srgbClr val="F3F4F6"/>
                </a:solidFill>
              </a:defRPr>
            </a:pPr>
            <a:r>
              <a:t>•  Cómo crear una tarea con retardo simulado de red.</a:t>
            </a:r>
          </a:p>
          <a:p>
            <a:pPr>
              <a:spcAft>
                <a:spcPts val="1000"/>
              </a:spcAft>
              <a:defRPr sz="1400">
                <a:solidFill>
                  <a:srgbClr val="F3F4F6"/>
                </a:solidFill>
              </a:defRPr>
            </a:pPr>
            <a:r>
              <a:t>•  La ejecución secuencial tradicional (bloqueante y lenta).</a:t>
            </a:r>
          </a:p>
          <a:p>
            <a:pPr>
              <a:spcAft>
                <a:spcPts val="1000"/>
              </a:spcAft>
              <a:defRPr sz="1400">
                <a:solidFill>
                  <a:srgbClr val="F3F4F6"/>
                </a:solidFill>
              </a:defRPr>
            </a:pPr>
            <a:r>
              <a:t>•  La transformación a concurrencia nativa con la palabra reservada 'go' y sincronización.</a:t>
            </a:r>
          </a:p>
          <a:p>
            <a:pPr>
              <a:spcAft>
                <a:spcPts val="1000"/>
              </a:spcAft>
              <a:defRPr sz="1400">
                <a:solidFill>
                  <a:srgbClr val="F3F4F6"/>
                </a:solidFill>
              </a:defRPr>
            </a:pPr>
            <a:r>
              <a:t>•  Compararemos los tiempos de ejecución en directo en la terminal.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